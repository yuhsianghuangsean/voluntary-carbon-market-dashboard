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1" r:id="rId4"/>
    <p:sldId id="260" r:id="rId5"/>
    <p:sldId id="262" r:id="rId6"/>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7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66" d="100"/>
          <a:sy n="66" d="100"/>
        </p:scale>
        <p:origin x="72" y="-3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80D821-878F-45AA-B829-87222F34C4BD}"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3390704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80D821-878F-45AA-B829-87222F34C4BD}"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19109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09133" y="6119285"/>
            <a:ext cx="14020800" cy="2000249"/>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80D821-878F-45AA-B829-87222F34C4BD}"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129945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80D821-878F-45AA-B829-87222F34C4BD}"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2312826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9717" y="486834"/>
            <a:ext cx="140208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80D821-878F-45AA-B829-87222F34C4BD}"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314491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80D821-878F-45AA-B829-87222F34C4BD}"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220335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80D821-878F-45AA-B829-87222F34C4BD}"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2328989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6480D821-878F-45AA-B829-87222F34C4BD}"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3999897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10917" y="1316567"/>
            <a:ext cx="82296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6480D821-878F-45AA-B829-87222F34C4BD}"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3116441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80D821-878F-45AA-B829-87222F34C4BD}"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117272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0" y="486834"/>
            <a:ext cx="35052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80D821-878F-45AA-B829-87222F34C4BD}"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4E87F4-D163-4E3A-9E2E-1A5197D4EA77}" type="slidenum">
              <a:rPr lang="en-US" smtClean="0"/>
              <a:t>‹#›</a:t>
            </a:fld>
            <a:endParaRPr lang="en-US"/>
          </a:p>
        </p:txBody>
      </p:sp>
    </p:spTree>
    <p:extLst>
      <p:ext uri="{BB962C8B-B14F-4D97-AF65-F5344CB8AC3E}">
        <p14:creationId xmlns:p14="http://schemas.microsoft.com/office/powerpoint/2010/main" val="127295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7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6480D821-878F-45AA-B829-87222F34C4BD}" type="datetimeFigureOut">
              <a:rPr lang="en-US" smtClean="0"/>
              <a:t>10/15/2026</a:t>
            </a:fld>
            <a:endParaRPr lang="en-US"/>
          </a:p>
        </p:txBody>
      </p:sp>
      <p:sp>
        <p:nvSpPr>
          <p:cNvPr id="5" name="Footer Placeholder 4"/>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4D4E87F4-D163-4E3A-9E2E-1A5197D4EA77}" type="slidenum">
              <a:rPr lang="en-US" smtClean="0"/>
              <a:t>‹#›</a:t>
            </a:fld>
            <a:endParaRPr lang="en-US"/>
          </a:p>
        </p:txBody>
      </p:sp>
    </p:spTree>
    <p:extLst>
      <p:ext uri="{BB962C8B-B14F-4D97-AF65-F5344CB8AC3E}">
        <p14:creationId xmlns:p14="http://schemas.microsoft.com/office/powerpoint/2010/main" val="5781849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gspp.berkeley.edu/berkeley-carbon-trading-project/offsets-database" TargetMode="External"/><Relationship Id="rId2" Type="http://schemas.openxmlformats.org/officeDocument/2006/relationships/hyperlink" Target="https://studenttheses.uu.nl/handle/20.500.12932/52522" TargetMode="External"/><Relationship Id="rId1" Type="http://schemas.openxmlformats.org/officeDocument/2006/relationships/slideLayout" Target="../slideLayouts/slideLayout7.xml"/><Relationship Id="rId4" Type="http://schemas.openxmlformats.org/officeDocument/2006/relationships/hyperlink" Target="https://www.ecosystemmarketplace.com/publications/2025-state-of-the-voluntary-carbon-market-sovc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74EC3-C2A3-1498-CB2E-0CD75053D24D}"/>
              </a:ext>
            </a:extLst>
          </p:cNvPr>
          <p:cNvSpPr>
            <a:spLocks noGrp="1"/>
          </p:cNvSpPr>
          <p:nvPr>
            <p:ph type="ctrTitle"/>
          </p:nvPr>
        </p:nvSpPr>
        <p:spPr>
          <a:xfrm>
            <a:off x="1085850" y="1"/>
            <a:ext cx="14084300" cy="5067300"/>
          </a:xfrm>
        </p:spPr>
        <p:txBody>
          <a:bodyPr>
            <a:normAutofit/>
          </a:bodyPr>
          <a:lstStyle/>
          <a:p>
            <a:r>
              <a:rPr lang="en-US" sz="4800" b="1" dirty="0">
                <a:latin typeface="Verdana" panose="020B0604030504040204" pitchFamily="34" charset="0"/>
                <a:ea typeface="Verdana" panose="020B0604030504040204" pitchFamily="34" charset="0"/>
              </a:rPr>
              <a:t>Explaining</a:t>
            </a:r>
            <a:br>
              <a:rPr lang="en-US" sz="4800" b="1" dirty="0">
                <a:latin typeface="Verdana" panose="020B0604030504040204" pitchFamily="34" charset="0"/>
                <a:ea typeface="Verdana" panose="020B0604030504040204" pitchFamily="34" charset="0"/>
              </a:rPr>
            </a:br>
            <a:r>
              <a:rPr lang="en-US" sz="4800" b="1" dirty="0">
                <a:latin typeface="Verdana" panose="020B0604030504040204" pitchFamily="34" charset="0"/>
                <a:ea typeface="Verdana" panose="020B0604030504040204" pitchFamily="34" charset="0"/>
              </a:rPr>
              <a:t>Voluntary Carbon Market</a:t>
            </a:r>
            <a:br>
              <a:rPr lang="en-US" sz="4800" b="1" dirty="0">
                <a:latin typeface="Verdana" panose="020B0604030504040204" pitchFamily="34" charset="0"/>
                <a:ea typeface="Verdana" panose="020B0604030504040204" pitchFamily="34" charset="0"/>
              </a:rPr>
            </a:br>
            <a:r>
              <a:rPr lang="en-US" sz="4800" b="1" dirty="0">
                <a:latin typeface="Verdana" panose="020B0604030504040204" pitchFamily="34" charset="0"/>
                <a:ea typeface="Verdana" panose="020B0604030504040204" pitchFamily="34" charset="0"/>
              </a:rPr>
              <a:t>in 10 Minutes</a:t>
            </a:r>
            <a:endParaRPr lang="en-US" sz="4800" dirty="0">
              <a:latin typeface="Verdana" panose="020B0604030504040204" pitchFamily="34" charset="0"/>
              <a:ea typeface="Verdana" panose="020B0604030504040204" pitchFamily="34" charset="0"/>
            </a:endParaRPr>
          </a:p>
        </p:txBody>
      </p:sp>
      <p:sp>
        <p:nvSpPr>
          <p:cNvPr id="3" name="Subtitle 2">
            <a:extLst>
              <a:ext uri="{FF2B5EF4-FFF2-40B4-BE49-F238E27FC236}">
                <a16:creationId xmlns:a16="http://schemas.microsoft.com/office/drawing/2014/main" id="{26689305-84FD-FF58-0F02-570161B60213}"/>
              </a:ext>
            </a:extLst>
          </p:cNvPr>
          <p:cNvSpPr>
            <a:spLocks noGrp="1"/>
          </p:cNvSpPr>
          <p:nvPr>
            <p:ph type="subTitle" idx="1"/>
          </p:nvPr>
        </p:nvSpPr>
        <p:spPr>
          <a:xfrm>
            <a:off x="2032000" y="5202767"/>
            <a:ext cx="12192000" cy="2207683"/>
          </a:xfrm>
        </p:spPr>
        <p:txBody>
          <a:bodyPr>
            <a:normAutofit lnSpcReduction="10000"/>
          </a:bodyPr>
          <a:lstStyle/>
          <a:p>
            <a:r>
              <a:rPr lang="en-US" dirty="0">
                <a:latin typeface="Verdana" panose="020B0604030504040204" pitchFamily="34" charset="0"/>
                <a:ea typeface="Verdana" panose="020B0604030504040204" pitchFamily="34" charset="0"/>
              </a:rPr>
              <a:t>By Sean Huang</a:t>
            </a:r>
          </a:p>
          <a:p>
            <a:endParaRPr lang="en-US" dirty="0">
              <a:latin typeface="Verdana" panose="020B0604030504040204" pitchFamily="34" charset="0"/>
              <a:ea typeface="Verdana" panose="020B0604030504040204" pitchFamily="34" charset="0"/>
            </a:endParaRPr>
          </a:p>
          <a:p>
            <a:r>
              <a:rPr lang="en-US" dirty="0">
                <a:latin typeface="Verdana" panose="020B0604030504040204" pitchFamily="34" charset="0"/>
                <a:ea typeface="Verdana" panose="020B0604030504040204" pitchFamily="34" charset="0"/>
              </a:rPr>
              <a:t>View Power BI dashboard</a:t>
            </a:r>
          </a:p>
          <a:p>
            <a:r>
              <a:rPr lang="en-US" dirty="0">
                <a:latin typeface="Verdana" panose="020B0604030504040204" pitchFamily="34" charset="0"/>
                <a:ea typeface="Verdana" panose="020B0604030504040204" pitchFamily="34" charset="0"/>
              </a:rPr>
              <a:t>View GitHub</a:t>
            </a:r>
          </a:p>
        </p:txBody>
      </p:sp>
    </p:spTree>
    <p:extLst>
      <p:ext uri="{BB962C8B-B14F-4D97-AF65-F5344CB8AC3E}">
        <p14:creationId xmlns:p14="http://schemas.microsoft.com/office/powerpoint/2010/main" val="477488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B36F6-F38B-A35E-F917-75E7EBE22E3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F1BCAD-CD54-1B75-BE58-AE764DF14B12}"/>
              </a:ext>
            </a:extLst>
          </p:cNvPr>
          <p:cNvSpPr txBox="1"/>
          <p:nvPr/>
        </p:nvSpPr>
        <p:spPr>
          <a:xfrm>
            <a:off x="457200" y="2679700"/>
            <a:ext cx="16256000" cy="502766"/>
          </a:xfrm>
          <a:prstGeom prst="rect">
            <a:avLst/>
          </a:prstGeom>
          <a:noFill/>
        </p:spPr>
        <p:txBody>
          <a:bodyPr wrap="square" rtlCol="0">
            <a:spAutoFit/>
          </a:bodyPr>
          <a:lstStyle/>
          <a:p>
            <a:r>
              <a:rPr lang="en-US" sz="2667" b="1" dirty="0">
                <a:latin typeface="Verdana" panose="020B0604030504040204" pitchFamily="34" charset="0"/>
                <a:ea typeface="Verdana" panose="020B0604030504040204" pitchFamily="34" charset="0"/>
              </a:rPr>
              <a:t>Content</a:t>
            </a: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63300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C170A5-07FE-832C-7077-7E4187F33338}"/>
              </a:ext>
            </a:extLst>
          </p:cNvPr>
          <p:cNvSpPr txBox="1"/>
          <p:nvPr/>
        </p:nvSpPr>
        <p:spPr>
          <a:xfrm>
            <a:off x="0" y="801737"/>
            <a:ext cx="16256000" cy="7540526"/>
          </a:xfrm>
          <a:prstGeom prst="rect">
            <a:avLst/>
          </a:prstGeom>
          <a:noFill/>
        </p:spPr>
        <p:txBody>
          <a:bodyPr wrap="square" rtlCol="0">
            <a:spAutoFit/>
          </a:bodyPr>
          <a:lstStyle/>
          <a:p>
            <a:pPr algn="ctr"/>
            <a:r>
              <a:rPr lang="en-US" sz="3200" b="1" dirty="0">
                <a:latin typeface="Verdana" panose="020B0604030504040204" pitchFamily="34" charset="0"/>
                <a:ea typeface="Verdana" panose="020B0604030504040204" pitchFamily="34" charset="0"/>
              </a:rPr>
              <a:t>Overview</a:t>
            </a:r>
          </a:p>
          <a:p>
            <a:pPr algn="just"/>
            <a:r>
              <a:rPr lang="en-US" sz="2400" b="1" dirty="0">
                <a:latin typeface="Verdana" panose="020B0604030504040204" pitchFamily="34" charset="0"/>
                <a:ea typeface="Verdana" panose="020B0604030504040204" pitchFamily="34" charset="0"/>
              </a:rPr>
              <a:t>What is the voluntary carbon market?</a:t>
            </a:r>
          </a:p>
          <a:p>
            <a:pPr algn="just"/>
            <a:r>
              <a:rPr lang="en-US" sz="2000" dirty="0">
                <a:latin typeface="Verdana" panose="020B0604030504040204" pitchFamily="34" charset="0"/>
                <a:ea typeface="Verdana" panose="020B0604030504040204" pitchFamily="34" charset="0"/>
              </a:rPr>
              <a:t>There are many ways to reduce carbon emissions or remove carbon from the atmosphere. All of which, however, require funding. Voluntary carbon market directs funds from companies interested in solving climate change to projects that reduce/remove carbon.</a:t>
            </a:r>
          </a:p>
          <a:p>
            <a:pPr algn="just"/>
            <a:endParaRPr lang="en-US" sz="2000" dirty="0">
              <a:latin typeface="Verdana" panose="020B0604030504040204" pitchFamily="34" charset="0"/>
              <a:ea typeface="Verdana" panose="020B0604030504040204" pitchFamily="34" charset="0"/>
            </a:endParaRPr>
          </a:p>
          <a:p>
            <a:pPr algn="just"/>
            <a:r>
              <a:rPr lang="en-US" sz="2400" b="1" dirty="0">
                <a:latin typeface="Verdana" panose="020B0604030504040204" pitchFamily="34" charset="0"/>
                <a:ea typeface="Verdana" panose="020B0604030504040204" pitchFamily="34" charset="0"/>
              </a:rPr>
              <a:t>How does the voluntary carbon market work?</a:t>
            </a:r>
          </a:p>
          <a:p>
            <a:pPr algn="just"/>
            <a:r>
              <a:rPr lang="en-US" sz="2000" b="1" dirty="0">
                <a:latin typeface="Verdana" panose="020B0604030504040204" pitchFamily="34" charset="0"/>
                <a:ea typeface="Verdana" panose="020B0604030504040204" pitchFamily="34" charset="0"/>
              </a:rPr>
              <a:t>Project developers </a:t>
            </a:r>
            <a:r>
              <a:rPr lang="en-US" sz="2000" dirty="0">
                <a:latin typeface="Verdana" panose="020B0604030504040204" pitchFamily="34" charset="0"/>
                <a:ea typeface="Verdana" panose="020B0604030504040204" pitchFamily="34" charset="0"/>
              </a:rPr>
              <a:t>reduce/remove carbon.</a:t>
            </a:r>
          </a:p>
          <a:p>
            <a:pPr algn="just"/>
            <a:r>
              <a:rPr lang="en-US" sz="2000" b="1" dirty="0">
                <a:latin typeface="Verdana" panose="020B0604030504040204" pitchFamily="34" charset="0"/>
                <a:ea typeface="Verdana" panose="020B0604030504040204" pitchFamily="34" charset="0"/>
              </a:rPr>
              <a:t>Carbon standards </a:t>
            </a:r>
            <a:r>
              <a:rPr lang="en-US" sz="2000" dirty="0">
                <a:latin typeface="Verdana" panose="020B0604030504040204" pitchFamily="34" charset="0"/>
                <a:ea typeface="Verdana" panose="020B0604030504040204" pitchFamily="34" charset="0"/>
              </a:rPr>
              <a:t>issue and track carbon credits after they are verified.</a:t>
            </a:r>
          </a:p>
          <a:p>
            <a:pPr algn="just"/>
            <a:r>
              <a:rPr lang="en-US" sz="2000" b="1" dirty="0">
                <a:latin typeface="Verdana" panose="020B0604030504040204" pitchFamily="34" charset="0"/>
                <a:ea typeface="Verdana" panose="020B0604030504040204" pitchFamily="34" charset="0"/>
              </a:rPr>
              <a:t>Buyers</a:t>
            </a:r>
            <a:r>
              <a:rPr lang="en-US" sz="2000" dirty="0">
                <a:latin typeface="Verdana" panose="020B0604030504040204" pitchFamily="34" charset="0"/>
                <a:ea typeface="Verdana" panose="020B0604030504040204" pitchFamily="34" charset="0"/>
              </a:rPr>
              <a:t> purchase carbon credits and fund project developers in doing so.</a:t>
            </a:r>
          </a:p>
          <a:p>
            <a:pPr algn="just"/>
            <a:endParaRPr lang="en-US" sz="2000" dirty="0">
              <a:latin typeface="Verdana" panose="020B0604030504040204" pitchFamily="34" charset="0"/>
              <a:ea typeface="Verdana" panose="020B0604030504040204" pitchFamily="34" charset="0"/>
            </a:endParaRPr>
          </a:p>
          <a:p>
            <a:pPr algn="just"/>
            <a:r>
              <a:rPr lang="en-US" sz="2400" b="1" dirty="0">
                <a:latin typeface="Verdana" panose="020B0604030504040204" pitchFamily="34" charset="0"/>
                <a:ea typeface="Verdana" panose="020B0604030504040204" pitchFamily="34" charset="0"/>
              </a:rPr>
              <a:t>How is this project useful?</a:t>
            </a:r>
          </a:p>
          <a:p>
            <a:pPr algn="just"/>
            <a:r>
              <a:rPr lang="en-US" sz="2000" dirty="0">
                <a:latin typeface="Verdana" panose="020B0604030504040204" pitchFamily="34" charset="0"/>
                <a:ea typeface="Verdana" panose="020B0604030504040204" pitchFamily="34" charset="0"/>
              </a:rPr>
              <a:t>The voluntary carbon market has been debated for years, particularly over its role in climate change mitigation. Some see carbon credits as an essential tool for addressing hard-to-abate emissions, while others worry that they may distract from meaningful decarbonization efforts.</a:t>
            </a:r>
          </a:p>
          <a:p>
            <a:pPr algn="just"/>
            <a:endParaRPr lang="en-US" sz="2000" dirty="0">
              <a:latin typeface="Verdana" panose="020B0604030504040204" pitchFamily="34" charset="0"/>
              <a:ea typeface="Verdana" panose="020B0604030504040204" pitchFamily="34" charset="0"/>
            </a:endParaRPr>
          </a:p>
          <a:p>
            <a:pPr algn="just"/>
            <a:r>
              <a:rPr lang="en-US" sz="2000" dirty="0">
                <a:latin typeface="Verdana" panose="020B0604030504040204" pitchFamily="34" charset="0"/>
                <a:ea typeface="Verdana" panose="020B0604030504040204" pitchFamily="34" charset="0"/>
              </a:rPr>
              <a:t>Yet during my thesis research, I found a more fundamental challenge: Understanding the voluntary carbon market itself is surprisingly difficult. The market is complex and fragmented, with multiple carbon standards, project types, certification schemes, and overlapping terminology.</a:t>
            </a:r>
          </a:p>
          <a:p>
            <a:pPr algn="just"/>
            <a:endParaRPr lang="en-US" sz="2000" dirty="0">
              <a:latin typeface="Verdana" panose="020B0604030504040204" pitchFamily="34" charset="0"/>
              <a:ea typeface="Verdana" panose="020B0604030504040204" pitchFamily="34" charset="0"/>
            </a:endParaRPr>
          </a:p>
          <a:p>
            <a:pPr algn="just"/>
            <a:r>
              <a:rPr lang="en-US" sz="2000" dirty="0">
                <a:latin typeface="Verdana" panose="020B0604030504040204" pitchFamily="34" charset="0"/>
                <a:ea typeface="Verdana" panose="020B0604030504040204" pitchFamily="34" charset="0"/>
              </a:rPr>
              <a:t>By analyzing and visualizing publicly available data and combining them with my thesis findings, this project aims to make the voluntary carbon market more accessible and help readers understand its current state and possible future development in 10 minutes.</a:t>
            </a:r>
          </a:p>
        </p:txBody>
      </p:sp>
    </p:spTree>
    <p:extLst>
      <p:ext uri="{BB962C8B-B14F-4D97-AF65-F5344CB8AC3E}">
        <p14:creationId xmlns:p14="http://schemas.microsoft.com/office/powerpoint/2010/main" val="122714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3DCDB-6E25-9411-C72F-4FDDE1DA44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A4827D-CD3E-4C3C-DFCB-57FF47866355}"/>
              </a:ext>
            </a:extLst>
          </p:cNvPr>
          <p:cNvSpPr txBox="1"/>
          <p:nvPr/>
        </p:nvSpPr>
        <p:spPr>
          <a:xfrm>
            <a:off x="0" y="1601956"/>
            <a:ext cx="16256000" cy="5940088"/>
          </a:xfrm>
          <a:prstGeom prst="rect">
            <a:avLst/>
          </a:prstGeom>
          <a:noFill/>
        </p:spPr>
        <p:txBody>
          <a:bodyPr wrap="square" rtlCol="0">
            <a:spAutoFit/>
          </a:bodyPr>
          <a:lstStyle/>
          <a:p>
            <a:pPr algn="ctr"/>
            <a:r>
              <a:rPr lang="en-US" sz="3200" b="1" dirty="0">
                <a:latin typeface="Verdana" panose="020B0604030504040204" pitchFamily="34" charset="0"/>
                <a:ea typeface="Verdana" panose="020B0604030504040204" pitchFamily="34" charset="0"/>
              </a:rPr>
              <a:t>Method</a:t>
            </a:r>
            <a:endParaRPr lang="en-US" sz="3200" dirty="0">
              <a:latin typeface="Verdana" panose="020B0604030504040204" pitchFamily="34" charset="0"/>
              <a:ea typeface="Verdana" panose="020B0604030504040204" pitchFamily="34" charset="0"/>
            </a:endParaRPr>
          </a:p>
          <a:p>
            <a:pPr marL="457195" indent="-457195">
              <a:buFont typeface="+mj-lt"/>
              <a:buAutoNum type="arabicPeriod"/>
            </a:pPr>
            <a:r>
              <a:rPr lang="en-US" sz="2400" b="1" dirty="0">
                <a:latin typeface="Verdana" panose="020B0604030504040204" pitchFamily="34" charset="0"/>
                <a:ea typeface="Verdana" panose="020B0604030504040204" pitchFamily="34" charset="0"/>
              </a:rPr>
              <a:t>Qualitative: </a:t>
            </a:r>
            <a:r>
              <a:rPr lang="en-US" sz="2400" dirty="0">
                <a:latin typeface="Verdana" panose="020B0604030504040204" pitchFamily="34" charset="0"/>
                <a:ea typeface="Verdana" panose="020B0604030504040204" pitchFamily="34" charset="0"/>
              </a:rPr>
              <a:t>MSc thesis research</a:t>
            </a:r>
          </a:p>
          <a:p>
            <a:pPr marL="479995"/>
            <a:r>
              <a:rPr lang="en-US" sz="2000" dirty="0">
                <a:latin typeface="Verdana" panose="020B0604030504040204" pitchFamily="34" charset="0"/>
                <a:ea typeface="Verdana" panose="020B0604030504040204" pitchFamily="34" charset="0"/>
              </a:rPr>
              <a:t>21 expert interviews (9 NGOs, 8 businesses, 3 states, 1 researcher) and policy research from my MSc thesis (</a:t>
            </a:r>
            <a:r>
              <a:rPr lang="en-US" sz="2000" dirty="0">
                <a:latin typeface="Verdana" panose="020B0604030504040204" pitchFamily="34" charset="0"/>
                <a:ea typeface="Verdana" panose="020B0604030504040204" pitchFamily="34" charset="0"/>
                <a:hlinkClick r:id="rId2"/>
              </a:rPr>
              <a:t>https://studenttheses.uu.nl/handle/20.500.12932/52522</a:t>
            </a:r>
            <a:r>
              <a:rPr lang="en-US" sz="2000" dirty="0">
                <a:latin typeface="Verdana" panose="020B0604030504040204" pitchFamily="34" charset="0"/>
                <a:ea typeface="Verdana" panose="020B0604030504040204" pitchFamily="34" charset="0"/>
              </a:rPr>
              <a:t>). </a:t>
            </a:r>
          </a:p>
          <a:p>
            <a:pPr marL="479995"/>
            <a:endParaRPr lang="en-US" sz="2000" dirty="0">
              <a:latin typeface="Verdana" panose="020B0604030504040204" pitchFamily="34" charset="0"/>
              <a:ea typeface="Verdana" panose="020B0604030504040204" pitchFamily="34" charset="0"/>
            </a:endParaRPr>
          </a:p>
          <a:p>
            <a:pPr marL="457195" indent="-457195">
              <a:buFont typeface="+mj-lt"/>
              <a:buAutoNum type="arabicPeriod" startAt="2"/>
            </a:pPr>
            <a:r>
              <a:rPr lang="en-US" sz="2400" b="1" dirty="0">
                <a:latin typeface="Verdana" panose="020B0604030504040204" pitchFamily="34" charset="0"/>
                <a:ea typeface="Verdana" panose="020B0604030504040204" pitchFamily="34" charset="0"/>
              </a:rPr>
              <a:t>Quantitative: </a:t>
            </a:r>
            <a:r>
              <a:rPr lang="en-US" sz="2400" dirty="0">
                <a:latin typeface="Verdana" panose="020B0604030504040204" pitchFamily="34" charset="0"/>
                <a:ea typeface="Verdana" panose="020B0604030504040204" pitchFamily="34" charset="0"/>
              </a:rPr>
              <a:t>exploring carbon project data</a:t>
            </a:r>
          </a:p>
          <a:p>
            <a:pPr marL="479995"/>
            <a:r>
              <a:rPr lang="en-US" sz="2000" dirty="0">
                <a:latin typeface="Verdana" panose="020B0604030504040204" pitchFamily="34" charset="0"/>
                <a:ea typeface="Verdana" panose="020B0604030504040204" pitchFamily="34" charset="0"/>
              </a:rPr>
              <a:t>Cleaning, transforming, and analyzing data on 11,000 carbon projects to visualize market trends and insights using Python and Power BI.</a:t>
            </a:r>
          </a:p>
          <a:p>
            <a:pPr marL="479995"/>
            <a:endParaRPr lang="en-US" sz="2000" dirty="0">
              <a:latin typeface="Verdana" panose="020B0604030504040204" pitchFamily="34" charset="0"/>
              <a:ea typeface="Verdana" panose="020B0604030504040204" pitchFamily="34" charset="0"/>
            </a:endParaRPr>
          </a:p>
          <a:p>
            <a:pPr marL="479995"/>
            <a:r>
              <a:rPr lang="en-US" sz="2000" dirty="0">
                <a:latin typeface="Verdana" panose="020B0604030504040204" pitchFamily="34" charset="0"/>
                <a:ea typeface="Verdana" panose="020B0604030504040204" pitchFamily="34" charset="0"/>
              </a:rPr>
              <a:t>Data source:</a:t>
            </a:r>
          </a:p>
          <a:p>
            <a:pPr marL="479995"/>
            <a:r>
              <a:rPr lang="en-US" sz="2000" dirty="0">
                <a:latin typeface="Verdana" panose="020B0604030504040204" pitchFamily="34" charset="0"/>
                <a:ea typeface="Verdana" panose="020B0604030504040204" pitchFamily="34" charset="0"/>
              </a:rPr>
              <a:t>Pamela Quartson, Barbara K Haya, Tyler Bernard, Aline </a:t>
            </a:r>
            <a:r>
              <a:rPr lang="en-US" sz="2000" dirty="0" err="1">
                <a:latin typeface="Verdana" panose="020B0604030504040204" pitchFamily="34" charset="0"/>
                <a:ea typeface="Verdana" panose="020B0604030504040204" pitchFamily="34" charset="0"/>
              </a:rPr>
              <a:t>Abayo</a:t>
            </a:r>
            <a:r>
              <a:rPr lang="en-US" sz="2000" dirty="0">
                <a:latin typeface="Verdana" panose="020B0604030504040204" pitchFamily="34" charset="0"/>
                <a:ea typeface="Verdana" panose="020B0604030504040204" pitchFamily="34" charset="0"/>
              </a:rPr>
              <a:t>, Xinyun Rong, Ivy S So, Micah Elias. (2026). Voluntary Registry Offsets Database v2026-08, Berkeley Carbon Trading Project, University of California, Berkeley. Retrieved from: </a:t>
            </a:r>
            <a:r>
              <a:rPr lang="en-US" sz="2000" dirty="0">
                <a:latin typeface="Verdana" panose="020B0604030504040204" pitchFamily="34" charset="0"/>
                <a:ea typeface="Verdana" panose="020B0604030504040204" pitchFamily="34" charset="0"/>
                <a:hlinkClick r:id="rId3"/>
              </a:rPr>
              <a:t>https://gspp.berkeley.edu/berkeley-carbon-trading-project/offsets-database</a:t>
            </a:r>
            <a:r>
              <a:rPr lang="en-US" sz="2000" dirty="0">
                <a:latin typeface="Verdana" panose="020B0604030504040204" pitchFamily="34" charset="0"/>
                <a:ea typeface="Verdana" panose="020B0604030504040204" pitchFamily="34" charset="0"/>
              </a:rPr>
              <a:t>. </a:t>
            </a:r>
          </a:p>
          <a:p>
            <a:pPr marL="479995"/>
            <a:endParaRPr lang="en-US" sz="2000" dirty="0">
              <a:latin typeface="Verdana" panose="020B0604030504040204" pitchFamily="34" charset="0"/>
              <a:ea typeface="Verdana" panose="020B0604030504040204" pitchFamily="34" charset="0"/>
            </a:endParaRPr>
          </a:p>
          <a:p>
            <a:pPr marL="479995"/>
            <a:r>
              <a:rPr lang="en-US" sz="2000" dirty="0">
                <a:latin typeface="Verdana" panose="020B0604030504040204" pitchFamily="34" charset="0"/>
                <a:ea typeface="Verdana" panose="020B0604030504040204" pitchFamily="34" charset="0"/>
              </a:rPr>
              <a:t>The current scope of this analysis is projects that issued or retired credits between Jan 2016 and Aug 2026, verified by one of the four major carbon standards (Verra, Gold Standard, ACR, CAR). There are other carbon standards, but these four already account for ~89% of the transaction volume in 2024 (</a:t>
            </a:r>
            <a:r>
              <a:rPr lang="en-US" sz="2000" dirty="0">
                <a:latin typeface="Verdana" panose="020B0604030504040204" pitchFamily="34" charset="0"/>
                <a:ea typeface="Verdana" panose="020B0604030504040204" pitchFamily="34" charset="0"/>
                <a:hlinkClick r:id="rId4"/>
              </a:rPr>
              <a:t>https://www.ecosystemmarketplace.com/publications/2025-state-of-the-voluntary-carbon-market-sovcm/</a:t>
            </a:r>
            <a:r>
              <a:rPr lang="en-US" sz="2000" dirty="0">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1951793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A9E471-36EB-4932-E93B-8ED93295FCDB}"/>
              </a:ext>
            </a:extLst>
          </p:cNvPr>
          <p:cNvSpPr txBox="1"/>
          <p:nvPr/>
        </p:nvSpPr>
        <p:spPr>
          <a:xfrm>
            <a:off x="0" y="0"/>
            <a:ext cx="16256000" cy="584775"/>
          </a:xfrm>
          <a:prstGeom prst="rect">
            <a:avLst/>
          </a:prstGeom>
          <a:noFill/>
        </p:spPr>
        <p:txBody>
          <a:bodyPr wrap="square" rtlCol="0">
            <a:spAutoFit/>
          </a:bodyPr>
          <a:lstStyle/>
          <a:p>
            <a:pPr algn="ctr"/>
            <a:r>
              <a:rPr lang="en-US" sz="3200" b="1" dirty="0">
                <a:latin typeface="Verdana" panose="020B0604030504040204" pitchFamily="34" charset="0"/>
                <a:ea typeface="Verdana" panose="020B0604030504040204" pitchFamily="34" charset="0"/>
              </a:rPr>
              <a:t>The legitimacy challenge</a:t>
            </a:r>
          </a:p>
        </p:txBody>
      </p:sp>
      <p:sp>
        <p:nvSpPr>
          <p:cNvPr id="15" name="Google Shape;342;p38">
            <a:extLst>
              <a:ext uri="{FF2B5EF4-FFF2-40B4-BE49-F238E27FC236}">
                <a16:creationId xmlns:a16="http://schemas.microsoft.com/office/drawing/2014/main" id="{A77073E5-B52B-C302-B1B6-D2EF385A21E4}"/>
              </a:ext>
            </a:extLst>
          </p:cNvPr>
          <p:cNvSpPr txBox="1">
            <a:spLocks/>
          </p:cNvSpPr>
          <p:nvPr/>
        </p:nvSpPr>
        <p:spPr>
          <a:xfrm>
            <a:off x="0" y="2102374"/>
            <a:ext cx="16256000" cy="394459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L="457200" marR="0" lvl="0" indent="-317500" algn="l" rtl="0">
              <a:lnSpc>
                <a:spcPct val="115000"/>
              </a:lnSpc>
              <a:spcBef>
                <a:spcPts val="0"/>
              </a:spcBef>
              <a:spcAft>
                <a:spcPts val="0"/>
              </a:spcAft>
              <a:buClr>
                <a:schemeClr val="dk1"/>
              </a:buClr>
              <a:buSzPts val="2400"/>
              <a:buFont typeface="Poppins SemiBold"/>
              <a:buNone/>
              <a:defRPr sz="2000" b="0" i="0" u="none" strike="noStrike" cap="none">
                <a:solidFill>
                  <a:schemeClr val="dk1"/>
                </a:solidFill>
                <a:latin typeface="Poppins SemiBold"/>
                <a:ea typeface="Poppins SemiBold"/>
                <a:cs typeface="Poppins SemiBold"/>
                <a:sym typeface="Poppins SemiBold"/>
              </a:defRPr>
            </a:lvl1pPr>
            <a:lvl2pPr marL="914400" marR="0" lvl="1"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2pPr>
            <a:lvl3pPr marL="1371600" marR="0" lvl="2"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3pPr>
            <a:lvl4pPr marL="1828800" marR="0" lvl="3"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4pPr>
            <a:lvl5pPr marL="2286000" marR="0" lvl="4"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5pPr>
            <a:lvl6pPr marL="2743200" marR="0" lvl="5"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6pPr>
            <a:lvl7pPr marL="3200400" marR="0" lvl="6"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7pPr>
            <a:lvl8pPr marL="3657600" marR="0" lvl="7"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8pPr>
            <a:lvl9pPr marL="4114800" marR="0" lvl="8"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9pPr>
          </a:lstStyle>
          <a:p>
            <a:pPr marL="0" indent="0"/>
            <a:r>
              <a:rPr lang="en-US" sz="2400" b="1" dirty="0">
                <a:latin typeface="Verdana" panose="020B0604030504040204" pitchFamily="34" charset="0"/>
                <a:ea typeface="Verdana" panose="020B0604030504040204" pitchFamily="34" charset="0"/>
              </a:rPr>
              <a:t>What</a:t>
            </a:r>
            <a:r>
              <a:rPr lang="zh-CN" altLang="en-US" sz="2400" b="1" dirty="0">
                <a:latin typeface="Verdana" panose="020B0604030504040204" pitchFamily="34" charset="0"/>
              </a:rPr>
              <a:t> </a:t>
            </a:r>
            <a:r>
              <a:rPr lang="en-US" altLang="zh-CN" sz="2400" b="1" dirty="0">
                <a:latin typeface="Verdana" panose="020B0604030504040204" pitchFamily="34" charset="0"/>
                <a:ea typeface="Verdana" panose="020B0604030504040204" pitchFamily="34" charset="0"/>
              </a:rPr>
              <a:t>types</a:t>
            </a:r>
            <a:r>
              <a:rPr lang="zh-CN" altLang="en-US" sz="2400" b="1" dirty="0">
                <a:latin typeface="Verdana" panose="020B0604030504040204" pitchFamily="34" charset="0"/>
              </a:rPr>
              <a:t> </a:t>
            </a:r>
            <a:r>
              <a:rPr lang="en-US" altLang="zh-CN" sz="2400" b="1" dirty="0">
                <a:latin typeface="Verdana" panose="020B0604030504040204" pitchFamily="34" charset="0"/>
                <a:ea typeface="Verdana" panose="020B0604030504040204" pitchFamily="34" charset="0"/>
              </a:rPr>
              <a:t>of</a:t>
            </a:r>
            <a:r>
              <a:rPr lang="zh-CN" altLang="en-US" sz="2400" b="1" dirty="0">
                <a:latin typeface="Verdana" panose="020B0604030504040204" pitchFamily="34" charset="0"/>
              </a:rPr>
              <a:t> </a:t>
            </a:r>
            <a:r>
              <a:rPr lang="en-US" altLang="zh-CN" sz="2400" b="1" dirty="0">
                <a:latin typeface="Verdana" panose="020B0604030504040204" pitchFamily="34" charset="0"/>
                <a:ea typeface="Verdana" panose="020B0604030504040204" pitchFamily="34" charset="0"/>
              </a:rPr>
              <a:t>projects</a:t>
            </a:r>
            <a:r>
              <a:rPr lang="zh-CN" altLang="en-US" sz="2400" b="1" dirty="0">
                <a:latin typeface="Verdana" panose="020B0604030504040204" pitchFamily="34" charset="0"/>
              </a:rPr>
              <a:t> </a:t>
            </a:r>
            <a:r>
              <a:rPr lang="en-US" altLang="zh-CN" sz="2400" b="1" dirty="0">
                <a:latin typeface="Verdana" panose="020B0604030504040204" pitchFamily="34" charset="0"/>
                <a:ea typeface="Verdana" panose="020B0604030504040204" pitchFamily="34" charset="0"/>
              </a:rPr>
              <a:t>are</a:t>
            </a:r>
            <a:r>
              <a:rPr lang="en-US" sz="2400" b="1" dirty="0">
                <a:latin typeface="Verdana" panose="020B0604030504040204" pitchFamily="34" charset="0"/>
                <a:ea typeface="Verdana" panose="020B0604030504040204" pitchFamily="34" charset="0"/>
              </a:rPr>
              <a:t> accused?</a:t>
            </a:r>
          </a:p>
          <a:p>
            <a:pPr marL="0" indent="0"/>
            <a:r>
              <a:rPr lang="en-US" dirty="0">
                <a:latin typeface="Verdana" panose="020B0604030504040204" pitchFamily="34" charset="0"/>
                <a:ea typeface="Verdana" panose="020B0604030504040204" pitchFamily="34" charset="0"/>
              </a:rPr>
              <a:t>One of the most issued, REDD+ (Reducing Emissions from Deforestation and Forest Degradation).</a:t>
            </a:r>
          </a:p>
          <a:p>
            <a:pPr marL="0" indent="0" algn="ctr"/>
            <a:endParaRPr lang="en-US" dirty="0">
              <a:latin typeface="Verdana" panose="020B0604030504040204" pitchFamily="34" charset="0"/>
              <a:ea typeface="Verdana" panose="020B0604030504040204" pitchFamily="34" charset="0"/>
            </a:endParaRPr>
          </a:p>
          <a:p>
            <a:pPr marL="0" indent="0"/>
            <a:r>
              <a:rPr lang="en-US" sz="2400" b="1" dirty="0">
                <a:latin typeface="Verdana" panose="020B0604030504040204" pitchFamily="34" charset="0"/>
                <a:ea typeface="Verdana" panose="020B0604030504040204" pitchFamily="34" charset="0"/>
              </a:rPr>
              <a:t>What are they accused of?</a:t>
            </a:r>
          </a:p>
          <a:p>
            <a:pPr marL="342900" indent="-342900">
              <a:buFont typeface="Arial" panose="020B0604020202020204" pitchFamily="34" charset="0"/>
              <a:buChar char="•"/>
            </a:pPr>
            <a:r>
              <a:rPr lang="en-US" dirty="0">
                <a:latin typeface="Verdana" panose="020B0604030504040204" pitchFamily="34" charset="0"/>
                <a:ea typeface="Verdana" panose="020B0604030504040204" pitchFamily="34" charset="0"/>
              </a:rPr>
              <a:t>Over-crediting: Issuing more credits than reduced.</a:t>
            </a:r>
          </a:p>
          <a:p>
            <a:pPr marL="342900" indent="-342900">
              <a:buFont typeface="Arial" panose="020B0604020202020204" pitchFamily="34" charset="0"/>
              <a:buChar char="•"/>
            </a:pPr>
            <a:r>
              <a:rPr lang="en-US" dirty="0">
                <a:latin typeface="Verdana" panose="020B0604030504040204" pitchFamily="34" charset="0"/>
                <a:ea typeface="Verdana" panose="020B0604030504040204" pitchFamily="34" charset="0"/>
              </a:rPr>
              <a:t>Providing no co-benefits for local communities as promised.</a:t>
            </a:r>
          </a:p>
          <a:p>
            <a:pPr marL="342900" indent="-342900" algn="ctr">
              <a:buFont typeface="Arial" panose="020B0604020202020204" pitchFamily="34" charset="0"/>
              <a:buChar char="•"/>
            </a:pPr>
            <a:endParaRPr lang="en-US" dirty="0">
              <a:latin typeface="Verdana" panose="020B0604030504040204" pitchFamily="34" charset="0"/>
              <a:ea typeface="Verdana" panose="020B0604030504040204" pitchFamily="34" charset="0"/>
            </a:endParaRPr>
          </a:p>
          <a:p>
            <a:pPr marL="0" indent="0"/>
            <a:r>
              <a:rPr lang="en-US" sz="2400" b="1" dirty="0">
                <a:latin typeface="Verdana" panose="020B0604030504040204" pitchFamily="34" charset="0"/>
                <a:ea typeface="Verdana" panose="020B0604030504040204" pitchFamily="34" charset="0"/>
              </a:rPr>
              <a:t>What are the consequences?</a:t>
            </a:r>
          </a:p>
          <a:p>
            <a:pPr marL="0" indent="0"/>
            <a:r>
              <a:rPr lang="en-US" dirty="0">
                <a:latin typeface="Verdana" panose="020B0604030504040204" pitchFamily="34" charset="0"/>
                <a:ea typeface="Verdana" panose="020B0604030504040204" pitchFamily="34" charset="0"/>
              </a:rPr>
              <a:t>Buyer hesitation toward certain project types, or even the carbon market as a whole.</a:t>
            </a:r>
          </a:p>
        </p:txBody>
      </p:sp>
      <p:pic>
        <p:nvPicPr>
          <p:cNvPr id="13" name="Picture 12">
            <a:extLst>
              <a:ext uri="{FF2B5EF4-FFF2-40B4-BE49-F238E27FC236}">
                <a16:creationId xmlns:a16="http://schemas.microsoft.com/office/drawing/2014/main" id="{A5E04FC3-C714-4205-7D7E-59C38F0D4EFE}"/>
              </a:ext>
            </a:extLst>
          </p:cNvPr>
          <p:cNvPicPr>
            <a:picLocks noChangeAspect="1"/>
          </p:cNvPicPr>
          <p:nvPr/>
        </p:nvPicPr>
        <p:blipFill>
          <a:blip r:embed="rId2"/>
          <a:stretch>
            <a:fillRect/>
          </a:stretch>
        </p:blipFill>
        <p:spPr>
          <a:xfrm>
            <a:off x="3166157" y="750692"/>
            <a:ext cx="3636931" cy="1195064"/>
          </a:xfrm>
          <a:prstGeom prst="rect">
            <a:avLst/>
          </a:prstGeom>
        </p:spPr>
      </p:pic>
      <p:sp>
        <p:nvSpPr>
          <p:cNvPr id="21" name="Google Shape;342;p38">
            <a:extLst>
              <a:ext uri="{FF2B5EF4-FFF2-40B4-BE49-F238E27FC236}">
                <a16:creationId xmlns:a16="http://schemas.microsoft.com/office/drawing/2014/main" id="{48E541A3-F3D3-7850-6311-E9708A82FD80}"/>
              </a:ext>
            </a:extLst>
          </p:cNvPr>
          <p:cNvSpPr txBox="1">
            <a:spLocks/>
          </p:cNvSpPr>
          <p:nvPr/>
        </p:nvSpPr>
        <p:spPr>
          <a:xfrm>
            <a:off x="6895427" y="819853"/>
            <a:ext cx="6194415" cy="104744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L="457200" marR="0" lvl="0" indent="-317500" algn="l" rtl="0">
              <a:lnSpc>
                <a:spcPct val="115000"/>
              </a:lnSpc>
              <a:spcBef>
                <a:spcPts val="0"/>
              </a:spcBef>
              <a:spcAft>
                <a:spcPts val="0"/>
              </a:spcAft>
              <a:buClr>
                <a:schemeClr val="dk1"/>
              </a:buClr>
              <a:buSzPts val="2400"/>
              <a:buFont typeface="Poppins SemiBold"/>
              <a:buNone/>
              <a:defRPr sz="2000" b="0" i="0" u="none" strike="noStrike" cap="none">
                <a:solidFill>
                  <a:schemeClr val="dk1"/>
                </a:solidFill>
                <a:latin typeface="Poppins SemiBold"/>
                <a:ea typeface="Poppins SemiBold"/>
                <a:cs typeface="Poppins SemiBold"/>
                <a:sym typeface="Poppins SemiBold"/>
              </a:defRPr>
            </a:lvl1pPr>
            <a:lvl2pPr marL="914400" marR="0" lvl="1"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2pPr>
            <a:lvl3pPr marL="1371600" marR="0" lvl="2"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3pPr>
            <a:lvl4pPr marL="1828800" marR="0" lvl="3"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4pPr>
            <a:lvl5pPr marL="2286000" marR="0" lvl="4"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5pPr>
            <a:lvl6pPr marL="2743200" marR="0" lvl="5"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6pPr>
            <a:lvl7pPr marL="3200400" marR="0" lvl="6"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7pPr>
            <a:lvl8pPr marL="3657600" marR="0" lvl="7"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8pPr>
            <a:lvl9pPr marL="4114800" marR="0" lvl="8" indent="-317500" algn="l" rtl="0">
              <a:lnSpc>
                <a:spcPct val="115000"/>
              </a:lnSpc>
              <a:spcBef>
                <a:spcPts val="0"/>
              </a:spcBef>
              <a:spcAft>
                <a:spcPts val="0"/>
              </a:spcAft>
              <a:buClr>
                <a:schemeClr val="dk1"/>
              </a:buClr>
              <a:buSzPts val="2400"/>
              <a:buFont typeface="Poppins SemiBold"/>
              <a:buNone/>
              <a:defRPr sz="2400" b="0" i="0" u="none" strike="noStrike" cap="none">
                <a:solidFill>
                  <a:schemeClr val="dk1"/>
                </a:solidFill>
                <a:latin typeface="Poppins SemiBold"/>
                <a:ea typeface="Poppins SemiBold"/>
                <a:cs typeface="Poppins SemiBold"/>
                <a:sym typeface="Poppins SemiBold"/>
              </a:defRPr>
            </a:lvl9pPr>
          </a:lstStyle>
          <a:p>
            <a:pPr marL="0" indent="0"/>
            <a:r>
              <a:rPr lang="en-US" b="1" dirty="0">
                <a:latin typeface="Verdana" panose="020B0604030504040204" pitchFamily="34" charset="0"/>
                <a:ea typeface="Verdana" panose="020B0604030504040204" pitchFamily="34" charset="0"/>
              </a:rPr>
              <a:t>“</a:t>
            </a:r>
            <a:r>
              <a:rPr lang="en-US" b="1" dirty="0">
                <a:latin typeface="Verdana" panose="020B0604030504040204" pitchFamily="34" charset="0"/>
                <a:ea typeface="Verdana" panose="020B0604030504040204" pitchFamily="34" charset="0"/>
                <a:cs typeface="Poppins ExtraBold" panose="00000900000000000000" pitchFamily="2" charset="0"/>
              </a:rPr>
              <a:t>Revealed: more than 90% of rainforest carbon offsets by biggest certifier are worthless, analysis shows</a:t>
            </a:r>
            <a:r>
              <a:rPr lang="en-US" b="1" dirty="0">
                <a:latin typeface="Verdana" panose="020B0604030504040204" pitchFamily="34" charset="0"/>
                <a:ea typeface="Verdana" panose="020B0604030504040204" pitchFamily="34" charset="0"/>
              </a:rPr>
              <a:t>”</a:t>
            </a:r>
            <a:r>
              <a:rPr lang="en-US" b="1" baseline="30000" dirty="0">
                <a:latin typeface="Verdana" panose="020B0604030504040204" pitchFamily="34" charset="0"/>
                <a:ea typeface="Verdana" panose="020B0604030504040204" pitchFamily="34" charset="0"/>
              </a:rPr>
              <a:t>1</a:t>
            </a:r>
          </a:p>
        </p:txBody>
      </p:sp>
      <p:sp>
        <p:nvSpPr>
          <p:cNvPr id="25" name="TextBox 24">
            <a:extLst>
              <a:ext uri="{FF2B5EF4-FFF2-40B4-BE49-F238E27FC236}">
                <a16:creationId xmlns:a16="http://schemas.microsoft.com/office/drawing/2014/main" id="{EB624FF0-9968-5A5D-7287-4729C86EFCD6}"/>
              </a:ext>
            </a:extLst>
          </p:cNvPr>
          <p:cNvSpPr txBox="1"/>
          <p:nvPr/>
        </p:nvSpPr>
        <p:spPr>
          <a:xfrm>
            <a:off x="2703704" y="6504980"/>
            <a:ext cx="9146758" cy="1477328"/>
          </a:xfrm>
          <a:prstGeom prst="rect">
            <a:avLst/>
          </a:prstGeom>
          <a:noFill/>
        </p:spPr>
        <p:txBody>
          <a:bodyPr wrap="square" rtlCol="0">
            <a:spAutoFit/>
          </a:bodyPr>
          <a:lstStyle/>
          <a:p>
            <a:r>
              <a:rPr lang="en-US" dirty="0"/>
              <a:t>Business supplier and intermediary 1</a:t>
            </a:r>
          </a:p>
          <a:p>
            <a:r>
              <a:rPr lang="en-US" dirty="0"/>
              <a:t>all of a sudden everyone just wants reforestation projects and no one's talking about REDD+ anymore…No one's interested…I think a lot of companies realize that if they want to stay out of trouble, stay out of reputational risk,  they need to make sure that the projects are waterproof…there's a more a larger demand to high quality projects nowadays, </a:t>
            </a:r>
          </a:p>
        </p:txBody>
      </p:sp>
      <p:sp>
        <p:nvSpPr>
          <p:cNvPr id="28" name="語音泡泡: 圓角矩形 12">
            <a:extLst>
              <a:ext uri="{FF2B5EF4-FFF2-40B4-BE49-F238E27FC236}">
                <a16:creationId xmlns:a16="http://schemas.microsoft.com/office/drawing/2014/main" id="{710084E1-62DD-7A73-3D68-79BBBCE48D13}"/>
              </a:ext>
            </a:extLst>
          </p:cNvPr>
          <p:cNvSpPr/>
          <p:nvPr/>
        </p:nvSpPr>
        <p:spPr>
          <a:xfrm>
            <a:off x="8636000" y="4037717"/>
            <a:ext cx="7170058" cy="1068565"/>
          </a:xfrm>
          <a:prstGeom prst="wedgeRoundRectCallout">
            <a:avLst>
              <a:gd name="adj1" fmla="val -37561"/>
              <a:gd name="adj2" fmla="val 79618"/>
              <a:gd name="adj3" fmla="val 16667"/>
            </a:avLst>
          </a:prstGeom>
          <a:solidFill>
            <a:srgbClr val="F9F7F2"/>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Verdana" panose="020B0604030504040204" pitchFamily="34" charset="0"/>
                <a:ea typeface="Verdana" panose="020B0604030504040204" pitchFamily="34" charset="0"/>
                <a:cs typeface="Poppins SemiBold" panose="00000700000000000000" pitchFamily="2" charset="0"/>
              </a:rPr>
              <a:t>“All of a sudden everyone just wants reforestation projects and no one's talking about REDD+ anymore…”</a:t>
            </a:r>
          </a:p>
          <a:p>
            <a:r>
              <a:rPr lang="en-US" dirty="0">
                <a:solidFill>
                  <a:schemeClr val="tx1"/>
                </a:solidFill>
                <a:latin typeface="Verdana" panose="020B0604030504040204" pitchFamily="34" charset="0"/>
                <a:ea typeface="Verdana" panose="020B0604030504040204" pitchFamily="34" charset="0"/>
                <a:cs typeface="Poppins SemiBold" panose="00000700000000000000" pitchFamily="2" charset="0"/>
              </a:rPr>
              <a:t>(Business Supplier and Intermediary 1)</a:t>
            </a:r>
          </a:p>
        </p:txBody>
      </p:sp>
    </p:spTree>
    <p:extLst>
      <p:ext uri="{BB962C8B-B14F-4D97-AF65-F5344CB8AC3E}">
        <p14:creationId xmlns:p14="http://schemas.microsoft.com/office/powerpoint/2010/main" val="21568154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186</TotalTime>
  <Words>642</Words>
  <Application>Microsoft Office PowerPoint</Application>
  <PresentationFormat>Custom</PresentationFormat>
  <Paragraphs>47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Verdana</vt:lpstr>
      <vt:lpstr>Office Theme</vt:lpstr>
      <vt:lpstr>Explaining Voluntary Carbon Market in 10 Minutes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Huang</dc:creator>
  <cp:lastModifiedBy>Sean Huang</cp:lastModifiedBy>
  <cp:revision>25</cp:revision>
  <dcterms:created xsi:type="dcterms:W3CDTF">2026-10-15T12:26:13Z</dcterms:created>
  <dcterms:modified xsi:type="dcterms:W3CDTF">2026-10-15T15:32:32Z</dcterms:modified>
</cp:coreProperties>
</file>